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9"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jpe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jpe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Rheumatoid Arthritis Detection</a:t>
            </a:r>
            <a:endParaRPr lang="en-US" dirty="0"/>
          </a:p>
        </p:txBody>
      </p:sp>
      <p:sp>
        <p:nvSpPr>
          <p:cNvPr id="3" name="Subtitle 2"/>
          <p:cNvSpPr>
            <a:spLocks noGrp="1"/>
          </p:cNvSpPr>
          <p:nvPr>
            <p:ph type="subTitle" idx="1"/>
          </p:nvPr>
        </p:nvSpPr>
        <p:spPr/>
        <p:txBody>
          <a:bodyPr>
            <a:scene3d>
              <a:camera prst="orthographicFront"/>
              <a:lightRig rig="threePt" dir="t"/>
            </a:scene3d>
          </a:bodyPr>
          <a:lstStyle/>
          <a:p>
            <a:r>
              <a:rPr lang="en-US" sz="2800">
                <a:solidFill>
                  <a:schemeClr val="tx1"/>
                </a:solidFill>
                <a:effectLst>
                  <a:outerShdw blurRad="38100" dist="19050" dir="2700000" algn="tl" rotWithShape="0">
                    <a:schemeClr val="dk1">
                      <a:alpha val="40000"/>
                    </a:schemeClr>
                  </a:outerShdw>
                </a:effectLst>
              </a:rPr>
              <a:t>-using ML and Image processing</a:t>
            </a:r>
            <a:endParaRPr lang="en-US" sz="2800">
              <a:solidFill>
                <a:schemeClr val="tx1"/>
              </a:solidFill>
              <a:effectLst>
                <a:outerShdw blurRad="38100" dist="19050" dir="2700000" algn="tl" rotWithShape="0">
                  <a:schemeClr val="dk1">
                    <a:alpha val="40000"/>
                  </a:schemeClr>
                </a:outerShdw>
              </a:effectLst>
            </a:endParaRPr>
          </a:p>
        </p:txBody>
      </p:sp>
      <p:pic>
        <p:nvPicPr>
          <p:cNvPr id="100" name="Picture 99"/>
          <p:cNvPicPr/>
          <p:nvPr/>
        </p:nvPicPr>
        <p:blipFill>
          <a:blip r:embed="rId1"/>
          <a:stretch>
            <a:fillRect/>
          </a:stretch>
        </p:blipFill>
        <p:spPr>
          <a:xfrm>
            <a:off x="479425" y="737870"/>
            <a:ext cx="3599815" cy="3275330"/>
          </a:xfrm>
          <a:prstGeom prst="rect">
            <a:avLst/>
          </a:prstGeom>
          <a:noFill/>
          <a:ln w="9525">
            <a:noFill/>
          </a:ln>
        </p:spPr>
      </p:pic>
      <p:sp>
        <p:nvSpPr>
          <p:cNvPr id="101" name="Text Box 100"/>
          <p:cNvSpPr txBox="1"/>
          <p:nvPr/>
        </p:nvSpPr>
        <p:spPr>
          <a:xfrm>
            <a:off x="479425" y="4509135"/>
            <a:ext cx="5080000" cy="2030095"/>
          </a:xfrm>
          <a:prstGeom prst="rect">
            <a:avLst/>
          </a:prstGeom>
          <a:noFill/>
          <a:ln w="9525">
            <a:noFill/>
          </a:ln>
        </p:spPr>
        <p:txBody>
          <a:bodyPr wrap="square">
            <a:spAutoFit/>
          </a:bodyPr>
          <a:p>
            <a:pPr indent="0"/>
            <a:r>
              <a:rPr lang="en-US" b="1">
                <a:latin typeface="Calibri" panose="020F0502020204030204" charset="0"/>
                <a:ea typeface="SimSun" panose="02010600030101010101" pitchFamily="2" charset="-122"/>
              </a:rPr>
              <a:t>Project by:</a:t>
            </a:r>
            <a:r>
              <a:rPr lang="en-US" b="0">
                <a:latin typeface="Calibri" panose="020F0502020204030204" charset="0"/>
                <a:ea typeface="SimSun" panose="02010600030101010101" pitchFamily="2" charset="-122"/>
              </a:rPr>
              <a:t>21249-CCN-008,CHALLA DIVYA SRI.21249-CCN-038,MUVVA BALAJI PRAMOD.21249-CCN-058,TELLEMEKALA LOKESH.21249-CCN-066,YELURI RAMADEVI.21249-CCN-046,PENUMALLU ARJUN REDDY.21249-CCN-016,EATHAKOTI DENNIS SUJITH SAGAR.</a:t>
            </a:r>
            <a:endParaRPr lang="en-US"/>
          </a:p>
        </p:txBody>
      </p:sp>
      <p:sp>
        <p:nvSpPr>
          <p:cNvPr id="4" name="Text Box 3"/>
          <p:cNvSpPr txBox="1"/>
          <p:nvPr/>
        </p:nvSpPr>
        <p:spPr>
          <a:xfrm>
            <a:off x="9032240" y="5290185"/>
            <a:ext cx="3111500" cy="829945"/>
          </a:xfrm>
          <a:prstGeom prst="rect">
            <a:avLst/>
          </a:prstGeom>
          <a:noFill/>
        </p:spPr>
        <p:txBody>
          <a:bodyPr wrap="none" rtlCol="0">
            <a:spAutoFit/>
          </a:bodyPr>
          <a:p>
            <a:r>
              <a:rPr lang="en-US" sz="2400" b="1">
                <a:latin typeface="Calibri" panose="020F0502020204030204" charset="0"/>
                <a:cs typeface="Calibri" panose="020F0502020204030204" charset="0"/>
              </a:rPr>
              <a:t>Guide:</a:t>
            </a:r>
            <a:endParaRPr lang="en-US" sz="2400" b="1">
              <a:latin typeface="Calibri" panose="020F0502020204030204" charset="0"/>
              <a:cs typeface="Calibri" panose="020F0502020204030204" charset="0"/>
            </a:endParaRPr>
          </a:p>
          <a:p>
            <a:r>
              <a:rPr lang="en-US" sz="2400">
                <a:latin typeface="Calibri" panose="020F0502020204030204" charset="0"/>
                <a:cs typeface="Calibri" panose="020F0502020204030204" charset="0"/>
              </a:rPr>
              <a:t>Malakala Mani Ratnam.</a:t>
            </a:r>
            <a:endParaRPr lang="en-US" sz="2400">
              <a:latin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073265" y="190500"/>
            <a:ext cx="10972800" cy="582613"/>
          </a:xfrm>
        </p:spPr>
        <p:txBody>
          <a:bodyPr/>
          <a:p>
            <a:r>
              <a:rPr lang="en-US">
                <a:latin typeface="Georgia" panose="02040502050405020303" charset="0"/>
                <a:cs typeface="Georgia" panose="02040502050405020303" charset="0"/>
              </a:rPr>
              <a:t>Contents</a:t>
            </a:r>
            <a:r>
              <a:rPr lang="en-US"/>
              <a:t>:</a:t>
            </a:r>
            <a:endParaRPr lang="en-US"/>
          </a:p>
        </p:txBody>
      </p:sp>
      <p:sp>
        <p:nvSpPr>
          <p:cNvPr id="3" name="Content Placeholder 2"/>
          <p:cNvSpPr>
            <a:spLocks noGrp="1"/>
          </p:cNvSpPr>
          <p:nvPr>
            <p:ph sz="half" idx="1"/>
          </p:nvPr>
        </p:nvSpPr>
        <p:spPr>
          <a:xfrm>
            <a:off x="466725" y="581025"/>
            <a:ext cx="6737985" cy="6205855"/>
          </a:xfrm>
        </p:spPr>
        <p:txBody>
          <a:bodyPr/>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Abstract</a:t>
            </a:r>
            <a:endParaRPr lang="en-US" sz="2400">
              <a:solidFill>
                <a:srgbClr val="000000"/>
              </a:solidFill>
              <a:latin typeface="Georgia" panose="02040502050405020303" charset="0"/>
              <a:cs typeface="Georgia" panose="02040502050405020303" charset="0"/>
              <a:sym typeface="+mn-ea"/>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Introduction</a:t>
            </a:r>
            <a:endParaRPr lang="en-US" sz="2400">
              <a:solidFill>
                <a:srgbClr val="000000"/>
              </a:solidFill>
              <a:latin typeface="Georgia" panose="02040502050405020303" charset="0"/>
              <a:cs typeface="Georgia" panose="02040502050405020303" charset="0"/>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Existing System </a:t>
            </a:r>
            <a:endParaRPr lang="en-US" sz="2400">
              <a:solidFill>
                <a:srgbClr val="000000"/>
              </a:solidFill>
              <a:latin typeface="Georgia" panose="02040502050405020303" charset="0"/>
              <a:cs typeface="Georgia" panose="02040502050405020303" charset="0"/>
              <a:sym typeface="+mn-ea"/>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Disadvantages of Existing System</a:t>
            </a:r>
            <a:endParaRPr lang="en-US" sz="2400">
              <a:solidFill>
                <a:srgbClr val="000000"/>
              </a:solidFill>
              <a:latin typeface="Georgia" panose="02040502050405020303" charset="0"/>
              <a:cs typeface="Georgia" panose="02040502050405020303" charset="0"/>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Proposed System </a:t>
            </a:r>
            <a:endParaRPr lang="en-US" sz="2400">
              <a:solidFill>
                <a:srgbClr val="000000"/>
              </a:solidFill>
              <a:latin typeface="Georgia" panose="02040502050405020303" charset="0"/>
              <a:cs typeface="Georgia" panose="02040502050405020303" charset="0"/>
              <a:sym typeface="+mn-ea"/>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Advantages in </a:t>
            </a:r>
            <a:r>
              <a:rPr lang="en-US" sz="2400">
                <a:solidFill>
                  <a:srgbClr val="000000"/>
                </a:solidFill>
                <a:latin typeface="Georgia" panose="02040502050405020303" charset="0"/>
                <a:cs typeface="Georgia" panose="02040502050405020303" charset="0"/>
                <a:sym typeface="+mn-ea"/>
              </a:rPr>
              <a:t>Proposed System </a:t>
            </a:r>
            <a:endParaRPr lang="en-US" sz="2400">
              <a:solidFill>
                <a:srgbClr val="000000"/>
              </a:solidFill>
              <a:latin typeface="Georgia" panose="02040502050405020303" charset="0"/>
              <a:cs typeface="Georgia" panose="02040502050405020303" charset="0"/>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System Architecture </a:t>
            </a:r>
            <a:endParaRPr lang="en-US" sz="2400">
              <a:solidFill>
                <a:srgbClr val="000000"/>
              </a:solidFill>
              <a:latin typeface="Georgia" panose="02040502050405020303" charset="0"/>
              <a:cs typeface="Georgia" panose="02040502050405020303" charset="0"/>
              <a:sym typeface="+mn-ea"/>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Functional Requirements</a:t>
            </a:r>
            <a:endParaRPr lang="en-US" sz="2400">
              <a:solidFill>
                <a:srgbClr val="000000"/>
              </a:solidFill>
              <a:latin typeface="Georgia" panose="02040502050405020303" charset="0"/>
              <a:cs typeface="Georgia" panose="02040502050405020303" charset="0"/>
              <a:sym typeface="+mn-ea"/>
            </a:endParaRPr>
          </a:p>
          <a:p>
            <a:pPr marL="773430" lvl="1" indent="-386715">
              <a:lnSpc>
                <a:spcPts val="5015"/>
              </a:lnSpc>
              <a:buFont typeface="Arial" panose="020B0604020202020204"/>
              <a:buChar char="•"/>
            </a:pPr>
            <a:r>
              <a:rPr lang="en-US" sz="2400">
                <a:solidFill>
                  <a:srgbClr val="000000"/>
                </a:solidFill>
                <a:latin typeface="Georgia" panose="02040502050405020303" charset="0"/>
                <a:cs typeface="Georgia" panose="02040502050405020303" charset="0"/>
                <a:sym typeface="+mn-ea"/>
              </a:rPr>
              <a:t>Conclusion</a:t>
            </a:r>
            <a:endParaRPr lang="en-US" sz="2400">
              <a:solidFill>
                <a:srgbClr val="000000"/>
              </a:solidFill>
              <a:latin typeface="Georgia" panose="02040502050405020303" charset="0"/>
              <a:cs typeface="Georgia" panose="02040502050405020303" charset="0"/>
            </a:endParaRPr>
          </a:p>
          <a:p>
            <a:pPr marL="0" lvl="1" indent="0">
              <a:lnSpc>
                <a:spcPts val="5015"/>
              </a:lnSpc>
              <a:buFont typeface="Arial" panose="020B0604020202020204" pitchFamily="34" charset="0"/>
              <a:buNone/>
            </a:pPr>
            <a:endParaRPr lang="en-US">
              <a:solidFill>
                <a:srgbClr val="000000"/>
              </a:solidFill>
              <a:latin typeface="Lato" panose="020F0502020204030203"/>
            </a:endParaRPr>
          </a:p>
          <a:p>
            <a:pPr marL="773430" lvl="1" indent="-386715">
              <a:lnSpc>
                <a:spcPts val="5015"/>
              </a:lnSpc>
              <a:buFont typeface="Arial" panose="020B0604020202020204"/>
              <a:buChar char="•"/>
            </a:pPr>
            <a:endParaRPr lang="en-US">
              <a:solidFill>
                <a:srgbClr val="000000"/>
              </a:solidFill>
              <a:latin typeface="Lato" panose="020F0502020204030203"/>
            </a:endParaRPr>
          </a:p>
          <a:p>
            <a:endParaRPr lang="en-US"/>
          </a:p>
        </p:txBody>
      </p:sp>
      <p:pic>
        <p:nvPicPr>
          <p:cNvPr id="101" name="Content Placeholder 100"/>
          <p:cNvPicPr/>
          <p:nvPr/>
        </p:nvPicPr>
        <p:blipFill>
          <a:blip r:embed="rId1"/>
          <a:stretch>
            <a:fillRect/>
          </a:stretch>
        </p:blipFill>
        <p:spPr>
          <a:xfrm>
            <a:off x="6308725" y="1681480"/>
            <a:ext cx="5060315" cy="42849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83780" y="120015"/>
            <a:ext cx="10972800" cy="582613"/>
          </a:xfrm>
        </p:spPr>
        <p:txBody>
          <a:bodyPr>
            <a:scene3d>
              <a:camera prst="orthographicFront"/>
              <a:lightRig rig="soft" dir="t">
                <a:rot lat="0" lon="0" rev="15600000"/>
              </a:lightRig>
            </a:scene3d>
            <a:sp3d extrusionH="57150" prstMaterial="softEdge">
              <a:bevelT w="25400" h="38100"/>
            </a:sp3d>
          </a:bodyPr>
          <a:p>
            <a:r>
              <a:rPr lang="en-US">
                <a:solidFill>
                  <a:schemeClr val="accent4"/>
                </a:solidFill>
                <a:effectLst/>
                <a:latin typeface="Lato" panose="020F0502020204030203"/>
                <a:sym typeface="+mn-ea"/>
              </a:rPr>
              <a:t>Abstract</a:t>
            </a:r>
            <a:endParaRPr lang="en-US">
              <a:solidFill>
                <a:schemeClr val="accent4"/>
              </a:solidFill>
              <a:effectLst/>
              <a:latin typeface="Lato" panose="020F0502020204030203"/>
              <a:sym typeface="+mn-ea"/>
            </a:endParaRPr>
          </a:p>
        </p:txBody>
      </p:sp>
      <p:sp>
        <p:nvSpPr>
          <p:cNvPr id="3" name="Content Placeholder 2"/>
          <p:cNvSpPr>
            <a:spLocks noGrp="1"/>
          </p:cNvSpPr>
          <p:nvPr>
            <p:ph idx="1"/>
          </p:nvPr>
        </p:nvSpPr>
        <p:spPr>
          <a:xfrm>
            <a:off x="720090" y="1817370"/>
            <a:ext cx="10972800" cy="4953000"/>
          </a:xfrm>
        </p:spPr>
        <p:txBody>
          <a:bodyPr>
            <a:scene3d>
              <a:camera prst="orthographicFront"/>
              <a:lightRig rig="threePt" dir="t"/>
            </a:scene3d>
          </a:bodyPr>
          <a:p>
            <a:r>
              <a:rPr lang="en-US" sz="2800">
                <a:solidFill>
                  <a:schemeClr val="accent1"/>
                </a:solidFill>
                <a:effectLst>
                  <a:outerShdw blurRad="38100" dist="25400" dir="5400000" algn="ctr" rotWithShape="0">
                    <a:srgbClr val="6E747A">
                      <a:alpha val="43000"/>
                    </a:srgbClr>
                  </a:outerShdw>
                </a:effectLst>
                <a:latin typeface="Calibri" panose="020F0502020204030204" charset="0"/>
                <a:cs typeface="Calibri" panose="020F0502020204030204" charset="0"/>
                <a:sym typeface="+mn-ea"/>
              </a:rPr>
              <a:t>This study proposes a novel approach for the early detection of rheumatoid arthritis (RA) utilizing image processing techniques. By analyzing medical imaging data, such as X-rays or ultrasound images, our method aims to identify characteristic features and patterns associated with RA. Leveraging advanced image processing algorithms, we can extract relevant information and generate automated diagnostic tools for efficient and accurate detection of RA. This research presents a promising avenue for improving early diagnosis and treatment of RA, ultimately enhancing patient outcomes and quality of life.</a:t>
            </a:r>
            <a:endParaRPr lang="en-US">
              <a:solidFill>
                <a:schemeClr val="accent1"/>
              </a:solidFill>
              <a:effectLst>
                <a:outerShdw blurRad="38100" dist="25400" dir="5400000" algn="ctr" rotWithShape="0">
                  <a:srgbClr val="6E747A">
                    <a:alpha val="43000"/>
                  </a:srgbClr>
                </a:outerShdw>
              </a:effectLst>
              <a:latin typeface="Calibri" panose="020F0502020204030204" charset="0"/>
              <a:cs typeface="Calibri" panose="020F0502020204030204" charset="0"/>
            </a:endParaRPr>
          </a:p>
          <a:p>
            <a:pPr marL="0" indent="0">
              <a:buNone/>
            </a:pPr>
            <a:endParaRPr lang="en-US">
              <a:solidFill>
                <a:schemeClr val="accent1"/>
              </a:solidFill>
              <a:effectLst>
                <a:outerShdw blurRad="38100" dist="25400" dir="5400000" algn="ctr" rotWithShape="0">
                  <a:srgbClr val="6E747A">
                    <a:alpha val="43000"/>
                  </a:srgbClr>
                </a:outerShdw>
              </a:effectLst>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ln w="10160">
                  <a:solidFill>
                    <a:schemeClr val="accent5"/>
                  </a:solidFill>
                  <a:prstDash val="solid"/>
                </a:ln>
                <a:solidFill>
                  <a:srgbClr val="FFFFFF"/>
                </a:solidFill>
                <a:effectLst>
                  <a:outerShdw blurRad="38100" dist="22860" dir="5400000" algn="tl" rotWithShape="0">
                    <a:srgbClr val="000000">
                      <a:alpha val="30000"/>
                    </a:srgbClr>
                  </a:outerShdw>
                </a:effectLst>
              </a:rPr>
              <a:t>Introduction:</a:t>
            </a:r>
            <a:endParaRPr lang="en-US">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 name="Content Placeholder 2"/>
          <p:cNvSpPr>
            <a:spLocks noGrp="1"/>
          </p:cNvSpPr>
          <p:nvPr>
            <p:ph sz="half" idx="1"/>
          </p:nvPr>
        </p:nvSpPr>
        <p:spPr>
          <a:xfrm>
            <a:off x="5039360" y="1793875"/>
            <a:ext cx="6543040" cy="5064125"/>
          </a:xfrm>
        </p:spPr>
        <p:txBody>
          <a:bodyPr/>
          <a:p>
            <a:r>
              <a:rPr lang="en-US" sz="2800">
                <a:latin typeface="Calibri" panose="020F0502020204030204" charset="0"/>
                <a:cs typeface="Calibri" panose="020F0502020204030204" charset="0"/>
                <a:sym typeface="+mn-ea"/>
              </a:rPr>
              <a:t>Rhemautoid arthritis(RH) is a chronic autoimmune disease that affects the joints of the body.Early detection of RA is crucial for timely treatment and management of the disease.</a:t>
            </a:r>
            <a:endParaRPr lang="en-US" sz="2800">
              <a:latin typeface="Calibri" panose="020F0502020204030204" charset="0"/>
              <a:cs typeface="Calibri" panose="020F0502020204030204" charset="0"/>
              <a:sym typeface="+mn-ea"/>
            </a:endParaRPr>
          </a:p>
          <a:p>
            <a:r>
              <a:rPr lang="en-US" sz="2800">
                <a:latin typeface="Calibri" panose="020F0502020204030204" charset="0"/>
                <a:cs typeface="Calibri" panose="020F0502020204030204" charset="0"/>
                <a:sym typeface="+mn-ea"/>
              </a:rPr>
              <a:t>Currently, manual examination by a rheumatologist is the primary method for RA detection.</a:t>
            </a:r>
            <a:endParaRPr lang="en-US" sz="2800">
              <a:latin typeface="Calibri" panose="020F0502020204030204" charset="0"/>
              <a:cs typeface="Calibri" panose="020F0502020204030204" charset="0"/>
              <a:sym typeface="+mn-ea"/>
            </a:endParaRPr>
          </a:p>
          <a:p>
            <a:pPr marL="0" indent="0">
              <a:buNone/>
            </a:pPr>
            <a:endParaRPr lang="en-US" sz="2800">
              <a:latin typeface="Calibri" panose="020F0502020204030204" charset="0"/>
              <a:cs typeface="Calibri" panose="020F0502020204030204" charset="0"/>
            </a:endParaRPr>
          </a:p>
        </p:txBody>
      </p:sp>
      <p:pic>
        <p:nvPicPr>
          <p:cNvPr id="4" name="Content Placeholder 3"/>
          <p:cNvPicPr>
            <a:picLocks noChangeAspect="1"/>
          </p:cNvPicPr>
          <p:nvPr>
            <p:ph sz="half" idx="2"/>
          </p:nvPr>
        </p:nvPicPr>
        <p:blipFill>
          <a:blip r:embed="rId1"/>
          <a:stretch>
            <a:fillRect/>
          </a:stretch>
        </p:blipFill>
        <p:spPr>
          <a:xfrm>
            <a:off x="222885" y="2019935"/>
            <a:ext cx="4755515" cy="31508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soft" dir="t">
                <a:rot lat="0" lon="0" rev="15600000"/>
              </a:lightRig>
            </a:scene3d>
            <a:sp3d extrusionH="57150" prstMaterial="softEdge">
              <a:bevelT w="25400" h="38100"/>
            </a:sp3d>
          </a:bodyPr>
          <a:p>
            <a:r>
              <a:rPr lang="en-US">
                <a:solidFill>
                  <a:schemeClr val="accent4"/>
                </a:solidFill>
                <a:effectLst/>
                <a:latin typeface="Calibri" panose="020F0502020204030204" charset="0"/>
                <a:cs typeface="Calibri" panose="020F0502020204030204" charset="0"/>
              </a:rPr>
              <a:t>Existing System:</a:t>
            </a:r>
            <a:endParaRPr lang="en-US">
              <a:solidFill>
                <a:schemeClr val="accent4"/>
              </a:solidFill>
              <a:effectLst/>
              <a:latin typeface="Calibri" panose="020F0502020204030204" charset="0"/>
              <a:cs typeface="Calibri" panose="020F0502020204030204" charset="0"/>
            </a:endParaRPr>
          </a:p>
        </p:txBody>
      </p:sp>
      <p:sp>
        <p:nvSpPr>
          <p:cNvPr id="3" name="Content Placeholder 2"/>
          <p:cNvSpPr>
            <a:spLocks noGrp="1"/>
          </p:cNvSpPr>
          <p:nvPr>
            <p:ph sz="half" idx="1"/>
          </p:nvPr>
        </p:nvSpPr>
        <p:spPr>
          <a:xfrm>
            <a:off x="609600" y="1428115"/>
            <a:ext cx="5881370" cy="4953000"/>
          </a:xfrm>
        </p:spPr>
        <p:txBody>
          <a:bodyPr/>
          <a:p>
            <a:r>
              <a:rPr lang="en-US" sz="2800">
                <a:solidFill>
                  <a:srgbClr val="000000"/>
                </a:solidFill>
                <a:latin typeface="Calibri" panose="020F0502020204030204" charset="0"/>
                <a:cs typeface="Calibri" panose="020F0502020204030204" charset="0"/>
                <a:sym typeface="+mn-ea"/>
              </a:rPr>
              <a:t>There are currently several existing systems for Rheumatoid Arthritis(RA) detection using image processing techniques.</a:t>
            </a:r>
            <a:endParaRPr lang="en-US" sz="2800">
              <a:solidFill>
                <a:srgbClr val="000000"/>
              </a:solidFill>
              <a:latin typeface="Calibri" panose="020F0502020204030204" charset="0"/>
              <a:cs typeface="Calibri" panose="020F0502020204030204" charset="0"/>
              <a:sym typeface="+mn-ea"/>
            </a:endParaRPr>
          </a:p>
          <a:p>
            <a:r>
              <a:rPr lang="en-US" sz="2800">
                <a:solidFill>
                  <a:srgbClr val="000000"/>
                </a:solidFill>
                <a:latin typeface="Calibri" panose="020F0502020204030204" charset="0"/>
                <a:cs typeface="Calibri" panose="020F0502020204030204" charset="0"/>
                <a:sym typeface="+mn-ea"/>
              </a:rPr>
              <a:t> Some of the notable ones </a:t>
            </a:r>
            <a:endParaRPr lang="en-US" sz="2800">
              <a:solidFill>
                <a:srgbClr val="000000"/>
              </a:solidFill>
              <a:latin typeface="Calibri" panose="020F0502020204030204" charset="0"/>
              <a:cs typeface="Calibri" panose="020F0502020204030204" charset="0"/>
              <a:sym typeface="+mn-ea"/>
            </a:endParaRPr>
          </a:p>
          <a:p>
            <a:pPr marL="0" indent="0">
              <a:buNone/>
            </a:pPr>
            <a:r>
              <a:rPr lang="en-US" sz="2800">
                <a:solidFill>
                  <a:srgbClr val="000000"/>
                </a:solidFill>
                <a:latin typeface="Calibri" panose="020F0502020204030204" charset="0"/>
                <a:cs typeface="Calibri" panose="020F0502020204030204" charset="0"/>
                <a:sym typeface="+mn-ea"/>
              </a:rPr>
              <a:t>     include:</a:t>
            </a:r>
            <a:endParaRPr lang="en-US" sz="2800">
              <a:solidFill>
                <a:srgbClr val="000000"/>
              </a:solidFill>
              <a:latin typeface="Calibri" panose="020F0502020204030204" charset="0"/>
              <a:cs typeface="Calibri" panose="020F0502020204030204" charset="0"/>
              <a:sym typeface="+mn-ea"/>
            </a:endParaRPr>
          </a:p>
          <a:p>
            <a:pPr>
              <a:buFont typeface="Wingdings" panose="05000000000000000000" charset="0"/>
              <a:buChar char="Ø"/>
            </a:pPr>
            <a:r>
              <a:rPr lang="en-US" sz="2800">
                <a:solidFill>
                  <a:srgbClr val="000000"/>
                </a:solidFill>
                <a:latin typeface="Calibri" panose="020F0502020204030204" charset="0"/>
                <a:cs typeface="Calibri" panose="020F0502020204030204" charset="0"/>
              </a:rPr>
              <a:t>Clinical Examination</a:t>
            </a:r>
            <a:endParaRPr lang="en-US" sz="2800">
              <a:solidFill>
                <a:srgbClr val="000000"/>
              </a:solidFill>
              <a:latin typeface="Calibri" panose="020F0502020204030204" charset="0"/>
              <a:cs typeface="Calibri" panose="020F0502020204030204" charset="0"/>
            </a:endParaRPr>
          </a:p>
          <a:p>
            <a:pPr>
              <a:buFont typeface="Wingdings" panose="05000000000000000000" charset="0"/>
              <a:buChar char="Ø"/>
            </a:pPr>
            <a:r>
              <a:rPr lang="en-US" sz="2800">
                <a:solidFill>
                  <a:srgbClr val="000000"/>
                </a:solidFill>
                <a:latin typeface="Calibri" panose="020F0502020204030204" charset="0"/>
                <a:cs typeface="Calibri" panose="020F0502020204030204" charset="0"/>
              </a:rPr>
              <a:t>Blood Tests</a:t>
            </a:r>
            <a:endParaRPr lang="en-US" sz="2800">
              <a:solidFill>
                <a:srgbClr val="000000"/>
              </a:solidFill>
              <a:latin typeface="Calibri" panose="020F0502020204030204" charset="0"/>
              <a:cs typeface="Calibri" panose="020F0502020204030204" charset="0"/>
            </a:endParaRPr>
          </a:p>
          <a:p>
            <a:pPr>
              <a:buFont typeface="Wingdings" panose="05000000000000000000" charset="0"/>
              <a:buChar char="Ø"/>
            </a:pPr>
            <a:r>
              <a:rPr lang="en-US" sz="2800">
                <a:solidFill>
                  <a:srgbClr val="000000"/>
                </a:solidFill>
                <a:latin typeface="Calibri" panose="020F0502020204030204" charset="0"/>
                <a:cs typeface="Calibri" panose="020F0502020204030204" charset="0"/>
              </a:rPr>
              <a:t>Imaging Techniques</a:t>
            </a:r>
            <a:endParaRPr lang="en-US" sz="2800">
              <a:solidFill>
                <a:srgbClr val="000000"/>
              </a:solidFill>
              <a:latin typeface="Calibri" panose="020F0502020204030204" charset="0"/>
              <a:cs typeface="Calibri" panose="020F0502020204030204" charset="0"/>
            </a:endParaRPr>
          </a:p>
          <a:p>
            <a:endParaRPr lang="en-US" sz="2800">
              <a:solidFill>
                <a:srgbClr val="000000"/>
              </a:solidFill>
              <a:latin typeface="Calibri" panose="020F0502020204030204" charset="0"/>
              <a:cs typeface="Calibri" panose="020F0502020204030204" charset="0"/>
              <a:sym typeface="+mn-ea"/>
            </a:endParaRPr>
          </a:p>
          <a:p>
            <a:pPr>
              <a:buFont typeface="Wingdings" panose="05000000000000000000" charset="0"/>
              <a:buChar char="Ø"/>
            </a:pPr>
            <a:endParaRPr lang="en-US" sz="2800">
              <a:latin typeface="Calibri" panose="020F0502020204030204" charset="0"/>
              <a:cs typeface="Calibri" panose="020F0502020204030204" charset="0"/>
            </a:endParaRPr>
          </a:p>
        </p:txBody>
      </p:sp>
      <p:pic>
        <p:nvPicPr>
          <p:cNvPr id="111" name="Content Placeholder 110"/>
          <p:cNvPicPr/>
          <p:nvPr>
            <p:ph sz="half" idx="2"/>
          </p:nvPr>
        </p:nvPicPr>
        <p:blipFill>
          <a:blip r:embed="rId1"/>
          <a:stretch>
            <a:fillRect/>
          </a:stretch>
        </p:blipFill>
        <p:spPr>
          <a:xfrm>
            <a:off x="8124190" y="1235075"/>
            <a:ext cx="3682365" cy="3178175"/>
          </a:xfrm>
          <a:prstGeom prst="rect">
            <a:avLst/>
          </a:prstGeom>
          <a:noFill/>
          <a:ln w="9525">
            <a:noFill/>
          </a:ln>
        </p:spPr>
      </p:pic>
      <p:pic>
        <p:nvPicPr>
          <p:cNvPr id="112" name="Picture 111"/>
          <p:cNvPicPr/>
          <p:nvPr/>
        </p:nvPicPr>
        <p:blipFill>
          <a:blip r:embed="rId2"/>
          <a:stretch>
            <a:fillRect/>
          </a:stretch>
        </p:blipFill>
        <p:spPr>
          <a:xfrm>
            <a:off x="5282565" y="3649345"/>
            <a:ext cx="3683000" cy="295465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16430" y="149860"/>
            <a:ext cx="10972800" cy="582613"/>
          </a:xfrm>
        </p:spPr>
        <p:txBody>
          <a:bodyPr/>
          <a:p>
            <a:r>
              <a:rPr lang="en-US"/>
              <a:t>Disadvantages of Existing System:</a:t>
            </a:r>
            <a:endParaRPr lang="en-US"/>
          </a:p>
        </p:txBody>
      </p:sp>
      <p:sp>
        <p:nvSpPr>
          <p:cNvPr id="3" name="Content Placeholder 2"/>
          <p:cNvSpPr>
            <a:spLocks noGrp="1"/>
          </p:cNvSpPr>
          <p:nvPr>
            <p:ph sz="half" idx="1"/>
          </p:nvPr>
        </p:nvSpPr>
        <p:spPr>
          <a:xfrm>
            <a:off x="4870450" y="1651000"/>
            <a:ext cx="7179310" cy="4831715"/>
          </a:xfrm>
        </p:spPr>
        <p:txBody>
          <a:bodyPr/>
          <a:p>
            <a:pPr marL="342900" lvl="1" indent="-342900">
              <a:buFont typeface="Wingdings" panose="05000000000000000000" charset="0"/>
              <a:buChar char="Ø"/>
            </a:pPr>
            <a:r>
              <a:rPr lang="en-US" b="1">
                <a:solidFill>
                  <a:srgbClr val="000000"/>
                </a:solidFill>
                <a:latin typeface="Calibri" panose="020F0502020204030204" charset="0"/>
                <a:cs typeface="Calibri" panose="020F0502020204030204" charset="0"/>
                <a:sym typeface="+mn-ea"/>
              </a:rPr>
              <a:t>Inaccuracy:</a:t>
            </a:r>
            <a:r>
              <a:rPr lang="en-US">
                <a:solidFill>
                  <a:srgbClr val="000000"/>
                </a:solidFill>
                <a:latin typeface="Calibri" panose="020F0502020204030204" charset="0"/>
                <a:cs typeface="Calibri" panose="020F0502020204030204" charset="0"/>
                <a:sym typeface="+mn-ea"/>
              </a:rPr>
              <a:t> </a:t>
            </a:r>
            <a:endParaRPr lang="en-US" sz="2400">
              <a:solidFill>
                <a:srgbClr val="000000"/>
              </a:solidFill>
              <a:latin typeface="Calibri" panose="020F0502020204030204" charset="0"/>
              <a:cs typeface="Calibri" panose="020F0502020204030204" charset="0"/>
              <a:sym typeface="+mn-ea"/>
            </a:endParaRPr>
          </a:p>
          <a:p>
            <a:pPr marL="342900" lvl="1" indent="-342900">
              <a:buFont typeface="Arial" panose="020B0604020202020204" pitchFamily="34" charset="0"/>
              <a:buChar char="•"/>
            </a:pPr>
            <a:r>
              <a:rPr lang="en-US" sz="2400">
                <a:solidFill>
                  <a:srgbClr val="000000"/>
                </a:solidFill>
                <a:latin typeface="Calibri" panose="020F0502020204030204" charset="0"/>
                <a:cs typeface="Calibri" panose="020F0502020204030204" charset="0"/>
                <a:sym typeface="+mn-ea"/>
              </a:rPr>
              <a:t>Manual testing may be prone to errors and inaccuracies due to human error.</a:t>
            </a:r>
            <a:r>
              <a:rPr lang="en-US" sz="2400">
                <a:solidFill>
                  <a:srgbClr val="000000"/>
                </a:solidFill>
                <a:latin typeface="Lato" panose="020F0502020204030203"/>
                <a:sym typeface="+mn-ea"/>
              </a:rPr>
              <a:t> </a:t>
            </a:r>
            <a:endParaRPr lang="en-US" sz="2400">
              <a:solidFill>
                <a:srgbClr val="000000"/>
              </a:solidFill>
              <a:latin typeface="Lato" panose="020F0502020204030203"/>
            </a:endParaRPr>
          </a:p>
          <a:p>
            <a:pPr>
              <a:buFont typeface="Wingdings" panose="05000000000000000000" charset="0"/>
              <a:buChar char="Ø"/>
            </a:pPr>
            <a:r>
              <a:rPr lang="en-US" sz="2800" b="1">
                <a:solidFill>
                  <a:srgbClr val="000000"/>
                </a:solidFill>
                <a:latin typeface="Calibri" panose="020F0502020204030204" charset="0"/>
                <a:cs typeface="Calibri" panose="020F0502020204030204" charset="0"/>
                <a:sym typeface="+mn-ea"/>
              </a:rPr>
              <a:t>Time-consuming:</a:t>
            </a:r>
            <a:r>
              <a:rPr lang="en-US" sz="2400" b="1">
                <a:solidFill>
                  <a:srgbClr val="000000"/>
                </a:solidFill>
                <a:latin typeface="Calibri" panose="020F0502020204030204" charset="0"/>
                <a:cs typeface="Calibri" panose="020F0502020204030204" charset="0"/>
                <a:sym typeface="+mn-ea"/>
              </a:rPr>
              <a:t> </a:t>
            </a:r>
            <a:endParaRPr lang="en-US" sz="2400">
              <a:solidFill>
                <a:srgbClr val="000000"/>
              </a:solidFill>
              <a:latin typeface="Lato" panose="020F0502020204030203"/>
              <a:sym typeface="+mn-ea"/>
            </a:endParaRPr>
          </a:p>
          <a:p>
            <a:pPr>
              <a:buFont typeface="Arial" panose="020B0604020202020204" pitchFamily="34" charset="0"/>
              <a:buChar char="•"/>
            </a:pPr>
            <a:r>
              <a:rPr lang="en-US" sz="2400">
                <a:solidFill>
                  <a:srgbClr val="000000"/>
                </a:solidFill>
                <a:latin typeface="Calibri" panose="020F0502020204030204" charset="0"/>
                <a:cs typeface="Calibri" panose="020F0502020204030204" charset="0"/>
                <a:sym typeface="+mn-ea"/>
              </a:rPr>
              <a:t>Manual testing methods can be time-consuming and may delay the diagnosis and treatment of RA.</a:t>
            </a:r>
            <a:r>
              <a:rPr lang="en-US" sz="2400">
                <a:solidFill>
                  <a:srgbClr val="000000"/>
                </a:solidFill>
                <a:latin typeface="Lato" panose="020F0502020204030203"/>
                <a:sym typeface="+mn-ea"/>
              </a:rPr>
              <a:t> </a:t>
            </a:r>
            <a:endParaRPr lang="en-US" sz="2400">
              <a:solidFill>
                <a:srgbClr val="000000"/>
              </a:solidFill>
              <a:latin typeface="Lato" panose="020F0502020204030203"/>
              <a:sym typeface="+mn-ea"/>
            </a:endParaRPr>
          </a:p>
          <a:p>
            <a:pPr marL="342900" lvl="1" indent="-342900">
              <a:buFont typeface="Wingdings" panose="05000000000000000000" charset="0"/>
              <a:buChar char="Ø"/>
            </a:pPr>
            <a:r>
              <a:rPr lang="en-US" b="1">
                <a:solidFill>
                  <a:srgbClr val="000000"/>
                </a:solidFill>
                <a:latin typeface="Calibri" panose="020F0502020204030204" charset="0"/>
                <a:cs typeface="Calibri" panose="020F0502020204030204" charset="0"/>
                <a:sym typeface="+mn-ea"/>
              </a:rPr>
              <a:t>Cost: </a:t>
            </a:r>
            <a:endParaRPr lang="en-US" b="1">
              <a:solidFill>
                <a:srgbClr val="000000"/>
              </a:solidFill>
              <a:latin typeface="Calibri" panose="020F0502020204030204" charset="0"/>
              <a:cs typeface="Calibri" panose="020F0502020204030204" charset="0"/>
              <a:sym typeface="+mn-ea"/>
            </a:endParaRPr>
          </a:p>
          <a:p>
            <a:pPr marL="342900" lvl="1" indent="-342900">
              <a:buFont typeface="Arial" panose="020B0604020202020204" pitchFamily="34" charset="0"/>
              <a:buChar char="•"/>
            </a:pPr>
            <a:r>
              <a:rPr lang="en-US" sz="2400">
                <a:solidFill>
                  <a:srgbClr val="000000"/>
                </a:solidFill>
                <a:latin typeface="Calibri" panose="020F0502020204030204" charset="0"/>
                <a:cs typeface="Calibri" panose="020F0502020204030204" charset="0"/>
                <a:sym typeface="+mn-ea"/>
              </a:rPr>
              <a:t>Manual testing may require more resources, such as specialized equipment, trained personnel.</a:t>
            </a:r>
            <a:endParaRPr lang="en-US" sz="2400">
              <a:solidFill>
                <a:srgbClr val="000000"/>
              </a:solidFill>
              <a:latin typeface="Calibri" panose="020F0502020204030204" charset="0"/>
              <a:cs typeface="Calibri" panose="020F0502020204030204" charset="0"/>
            </a:endParaRPr>
          </a:p>
          <a:p>
            <a:pPr marL="0" indent="0">
              <a:buNone/>
            </a:pPr>
            <a:endParaRPr lang="en-US" sz="2400">
              <a:latin typeface="Calibri" panose="020F0502020204030204" charset="0"/>
              <a:cs typeface="Calibri" panose="020F0502020204030204" charset="0"/>
            </a:endParaRPr>
          </a:p>
        </p:txBody>
      </p:sp>
      <p:pic>
        <p:nvPicPr>
          <p:cNvPr id="8" name="Content Placeholder 7"/>
          <p:cNvPicPr>
            <a:picLocks noChangeAspect="1"/>
          </p:cNvPicPr>
          <p:nvPr/>
        </p:nvPicPr>
        <p:blipFill>
          <a:blip r:embed="rId1"/>
          <a:srcRect l="2241" t="5342" r="-2241" b="15055"/>
          <a:stretch>
            <a:fillRect/>
          </a:stretch>
        </p:blipFill>
        <p:spPr>
          <a:xfrm>
            <a:off x="165100" y="2008505"/>
            <a:ext cx="4705350" cy="329692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949575" y="139700"/>
            <a:ext cx="10972800" cy="582613"/>
          </a:xfrm>
        </p:spPr>
        <p:txBody>
          <a:bodyPr>
            <a:scene3d>
              <a:camera prst="orthographicFront"/>
              <a:lightRig rig="soft" dir="t">
                <a:rot lat="0" lon="0" rev="15600000"/>
              </a:lightRig>
            </a:scene3d>
            <a:sp3d extrusionH="57150" prstMaterial="softEdge">
              <a:bevelT w="25400" h="38100"/>
            </a:sp3d>
          </a:bodyPr>
          <a:p>
            <a:r>
              <a:rPr lang="en-US">
                <a:solidFill>
                  <a:schemeClr val="accent4"/>
                </a:solidFill>
                <a:effectLst/>
                <a:latin typeface="Calibri" panose="020F0502020204030204" charset="0"/>
                <a:cs typeface="Calibri" panose="020F0502020204030204" charset="0"/>
              </a:rPr>
              <a:t>Proposed System</a:t>
            </a:r>
            <a:endParaRPr lang="en-US">
              <a:solidFill>
                <a:schemeClr val="accent4"/>
              </a:solidFill>
              <a:effectLst/>
              <a:latin typeface="Calibri" panose="020F0502020204030204" charset="0"/>
              <a:cs typeface="Calibri" panose="020F0502020204030204" charset="0"/>
            </a:endParaRPr>
          </a:p>
        </p:txBody>
      </p:sp>
      <p:sp>
        <p:nvSpPr>
          <p:cNvPr id="3" name="Content Placeholder 2"/>
          <p:cNvSpPr>
            <a:spLocks noGrp="1"/>
          </p:cNvSpPr>
          <p:nvPr>
            <p:ph sz="half" idx="1"/>
          </p:nvPr>
        </p:nvSpPr>
        <p:spPr>
          <a:xfrm>
            <a:off x="883920" y="1205230"/>
            <a:ext cx="10679430" cy="4953000"/>
          </a:xfrm>
        </p:spPr>
        <p:txBody>
          <a:bodyPr/>
          <a:p>
            <a:pPr>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To address these limitations, a proposed system using image processing has been developed. </a:t>
            </a:r>
            <a:endParaRPr lang="en-US" sz="2400">
              <a:solidFill>
                <a:srgbClr val="000000"/>
              </a:solidFill>
              <a:latin typeface="Calibri" panose="020F0502020204030204" charset="0"/>
              <a:cs typeface="Calibri" panose="020F0502020204030204" charset="0"/>
              <a:sym typeface="+mn-ea"/>
            </a:endParaRPr>
          </a:p>
          <a:p>
            <a:pPr>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This system aims to provide a faster, more objective, and accurate method for detecting rheumatoid arthritis.</a:t>
            </a:r>
            <a:endParaRPr lang="en-US" sz="2400">
              <a:solidFill>
                <a:srgbClr val="000000"/>
              </a:solidFill>
              <a:latin typeface="Calibri" panose="020F0502020204030204" charset="0"/>
              <a:cs typeface="Calibri" panose="020F0502020204030204" charset="0"/>
              <a:sym typeface="+mn-ea"/>
            </a:endParaRPr>
          </a:p>
          <a:p>
            <a:pPr>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Proposed system uses image processing techniques to analyze digital images of the hands and joints of patients. </a:t>
            </a:r>
            <a:endParaRPr lang="en-US" sz="2400">
              <a:solidFill>
                <a:srgbClr val="000000"/>
              </a:solidFill>
              <a:latin typeface="Calibri" panose="020F0502020204030204" charset="0"/>
              <a:cs typeface="Calibri" panose="020F0502020204030204" charset="0"/>
              <a:sym typeface="+mn-ea"/>
            </a:endParaRPr>
          </a:p>
        </p:txBody>
      </p:sp>
      <p:pic>
        <p:nvPicPr>
          <p:cNvPr id="103" name="Content Placeholder 102"/>
          <p:cNvPicPr/>
          <p:nvPr>
            <p:ph sz="half" idx="2"/>
          </p:nvPr>
        </p:nvPicPr>
        <p:blipFill>
          <a:blip r:embed="rId1"/>
          <a:srcRect b="7876"/>
          <a:stretch>
            <a:fillRect/>
          </a:stretch>
        </p:blipFill>
        <p:spPr>
          <a:xfrm>
            <a:off x="193040" y="4004945"/>
            <a:ext cx="5384800" cy="2376805"/>
          </a:xfrm>
          <a:prstGeom prst="rect">
            <a:avLst/>
          </a:prstGeom>
          <a:noFill/>
          <a:ln w="9525">
            <a:noFill/>
          </a:ln>
        </p:spPr>
      </p:pic>
      <p:pic>
        <p:nvPicPr>
          <p:cNvPr id="104" name="Picture 103"/>
          <p:cNvPicPr/>
          <p:nvPr/>
        </p:nvPicPr>
        <p:blipFill>
          <a:blip r:embed="rId2"/>
          <a:stretch>
            <a:fillRect/>
          </a:stretch>
        </p:blipFill>
        <p:spPr>
          <a:xfrm>
            <a:off x="6908165" y="3731895"/>
            <a:ext cx="4755515" cy="264985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 name="Content Placeholder 104"/>
          <p:cNvPicPr/>
          <p:nvPr>
            <p:ph idx="1"/>
          </p:nvPr>
        </p:nvPicPr>
        <p:blipFill>
          <a:blip r:embed="rId1"/>
          <a:stretch>
            <a:fillRect/>
          </a:stretch>
        </p:blipFill>
        <p:spPr>
          <a:xfrm>
            <a:off x="6621780" y="1347470"/>
            <a:ext cx="5123180" cy="4953000"/>
          </a:xfrm>
          <a:prstGeom prst="rect">
            <a:avLst/>
          </a:prstGeom>
          <a:noFill/>
          <a:ln w="9525">
            <a:noFill/>
          </a:ln>
        </p:spPr>
      </p:pic>
      <p:sp>
        <p:nvSpPr>
          <p:cNvPr id="6" name="Text Box 5"/>
          <p:cNvSpPr txBox="1"/>
          <p:nvPr/>
        </p:nvSpPr>
        <p:spPr>
          <a:xfrm>
            <a:off x="419100" y="2018030"/>
            <a:ext cx="5886450" cy="3784600"/>
          </a:xfrm>
          <a:prstGeom prst="rect">
            <a:avLst/>
          </a:prstGeom>
          <a:noFill/>
        </p:spPr>
        <p:txBody>
          <a:bodyPr wrap="square" rtlCol="0" anchor="t">
            <a:spAutoFit/>
          </a:bodyPr>
          <a:p>
            <a:pPr marL="342900" indent="-342900">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The system first captures high-resolution images of the hands and joints using a digital camera .</a:t>
            </a:r>
            <a:endParaRPr lang="en-US" sz="2400">
              <a:solidFill>
                <a:srgbClr val="000000"/>
              </a:solidFill>
              <a:latin typeface="Calibri" panose="020F0502020204030204" charset="0"/>
              <a:cs typeface="Calibri" panose="020F0502020204030204" charset="0"/>
              <a:sym typeface="+mn-ea"/>
            </a:endParaRPr>
          </a:p>
          <a:p>
            <a:pPr marL="342900" indent="-342900">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These images are then processed using various image processing algorithms, including edge detection, segmentation, and feature extraction.</a:t>
            </a:r>
            <a:endParaRPr lang="en-US" sz="2400">
              <a:solidFill>
                <a:srgbClr val="000000"/>
              </a:solidFill>
              <a:latin typeface="Calibri" panose="020F0502020204030204" charset="0"/>
              <a:cs typeface="Calibri" panose="020F0502020204030204" charset="0"/>
              <a:sym typeface="+mn-ea"/>
            </a:endParaRPr>
          </a:p>
          <a:p>
            <a:pPr marL="342900" indent="-342900">
              <a:buFont typeface="Wingdings" panose="05000000000000000000" charset="0"/>
              <a:buChar char="Ø"/>
            </a:pPr>
            <a:r>
              <a:rPr lang="en-US" sz="2400">
                <a:solidFill>
                  <a:srgbClr val="000000"/>
                </a:solidFill>
                <a:latin typeface="Calibri" panose="020F0502020204030204" charset="0"/>
                <a:cs typeface="Calibri" panose="020F0502020204030204" charset="0"/>
                <a:sym typeface="+mn-ea"/>
              </a:rPr>
              <a:t>Then classify the images into either normal or abnormal and  detects the Rheumatoid Arthritis.</a:t>
            </a:r>
            <a:endParaRPr lang="en-US" sz="2400">
              <a:latin typeface="Calibri" panose="020F0502020204030204" charset="0"/>
              <a:cs typeface="Calibri" panose="020F0502020204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Advantages in Proposed System:</a:t>
            </a:r>
            <a:endParaRPr lang="en-US"/>
          </a:p>
        </p:txBody>
      </p:sp>
      <p:sp>
        <p:nvSpPr>
          <p:cNvPr id="3" name="Content Placeholder 2"/>
          <p:cNvSpPr>
            <a:spLocks noGrp="1"/>
          </p:cNvSpPr>
          <p:nvPr>
            <p:ph sz="half" idx="1"/>
          </p:nvPr>
        </p:nvSpPr>
        <p:spPr>
          <a:xfrm>
            <a:off x="5570220" y="1266190"/>
            <a:ext cx="5810250" cy="4953000"/>
          </a:xfrm>
        </p:spPr>
        <p:txBody>
          <a:bodyPr/>
          <a:p>
            <a:pPr algn="just">
              <a:lnSpc>
                <a:spcPts val="4760"/>
              </a:lnSpc>
            </a:pPr>
            <a:r>
              <a:rPr lang="en-US" sz="2800">
                <a:solidFill>
                  <a:srgbClr val="000000"/>
                </a:solidFill>
                <a:latin typeface="Calibri" panose="020F0502020204030204" charset="0"/>
                <a:cs typeface="Calibri" panose="020F0502020204030204" charset="0"/>
                <a:sym typeface="+mn-ea"/>
              </a:rPr>
              <a:t>Here are some potential advantages of Rheumatoid Arthritis detection using processing:</a:t>
            </a:r>
            <a:endParaRPr lang="en-US" sz="2800">
              <a:solidFill>
                <a:srgbClr val="000000"/>
              </a:solidFill>
              <a:latin typeface="Calibri" panose="020F0502020204030204" charset="0"/>
              <a:cs typeface="Calibri" panose="020F0502020204030204" charset="0"/>
              <a:sym typeface="+mn-ea"/>
            </a:endParaRPr>
          </a:p>
          <a:p>
            <a:pPr algn="just">
              <a:lnSpc>
                <a:spcPts val="4760"/>
              </a:lnSpc>
              <a:buFont typeface="Wingdings" panose="05000000000000000000" charset="0"/>
              <a:buChar char="Ø"/>
            </a:pPr>
            <a:r>
              <a:rPr lang="en-US" sz="2800">
                <a:solidFill>
                  <a:srgbClr val="000000"/>
                </a:solidFill>
                <a:latin typeface="Lato" panose="020F0502020204030203"/>
                <a:sym typeface="+mn-ea"/>
              </a:rPr>
              <a:t> </a:t>
            </a:r>
            <a:r>
              <a:rPr lang="en-US" sz="2800">
                <a:solidFill>
                  <a:srgbClr val="000000"/>
                </a:solidFill>
                <a:latin typeface="Calibri" panose="020F0502020204030204" charset="0"/>
                <a:cs typeface="Calibri" panose="020F0502020204030204" charset="0"/>
                <a:sym typeface="+mn-ea"/>
              </a:rPr>
              <a:t>Improved Accuracy</a:t>
            </a:r>
            <a:endParaRPr lang="en-US" sz="2800">
              <a:solidFill>
                <a:srgbClr val="000000"/>
              </a:solidFill>
              <a:latin typeface="Calibri" panose="020F0502020204030204" charset="0"/>
              <a:cs typeface="Calibri" panose="020F0502020204030204" charset="0"/>
              <a:sym typeface="+mn-ea"/>
            </a:endParaRPr>
          </a:p>
          <a:p>
            <a:pPr algn="just">
              <a:lnSpc>
                <a:spcPts val="4760"/>
              </a:lnSpc>
              <a:buFont typeface="Wingdings" panose="05000000000000000000" charset="0"/>
              <a:buChar char="Ø"/>
            </a:pPr>
            <a:r>
              <a:rPr lang="en-US" sz="2800">
                <a:solidFill>
                  <a:srgbClr val="000000"/>
                </a:solidFill>
                <a:latin typeface="Calibri" panose="020F0502020204030204" charset="0"/>
                <a:cs typeface="Calibri" panose="020F0502020204030204" charset="0"/>
                <a:sym typeface="+mn-ea"/>
              </a:rPr>
              <a:t>Early Detection</a:t>
            </a:r>
            <a:endParaRPr lang="en-US" sz="2800">
              <a:solidFill>
                <a:srgbClr val="000000"/>
              </a:solidFill>
              <a:latin typeface="Calibri" panose="020F0502020204030204" charset="0"/>
              <a:cs typeface="Calibri" panose="020F0502020204030204" charset="0"/>
              <a:sym typeface="+mn-ea"/>
            </a:endParaRPr>
          </a:p>
          <a:p>
            <a:pPr algn="just">
              <a:lnSpc>
                <a:spcPts val="4760"/>
              </a:lnSpc>
              <a:buFont typeface="Wingdings" panose="05000000000000000000" charset="0"/>
              <a:buChar char="Ø"/>
            </a:pPr>
            <a:r>
              <a:rPr lang="en-US" sz="2800">
                <a:solidFill>
                  <a:srgbClr val="000000"/>
                </a:solidFill>
                <a:latin typeface="Calibri" panose="020F0502020204030204" charset="0"/>
                <a:cs typeface="Calibri" panose="020F0502020204030204" charset="0"/>
                <a:sym typeface="+mn-ea"/>
              </a:rPr>
              <a:t>Efficiency</a:t>
            </a:r>
            <a:endParaRPr lang="en-US" sz="2800">
              <a:solidFill>
                <a:srgbClr val="000000"/>
              </a:solidFill>
              <a:latin typeface="Calibri" panose="020F0502020204030204" charset="0"/>
              <a:cs typeface="Calibri" panose="020F0502020204030204" charset="0"/>
              <a:sym typeface="+mn-ea"/>
            </a:endParaRPr>
          </a:p>
          <a:p>
            <a:pPr algn="just">
              <a:lnSpc>
                <a:spcPts val="4760"/>
              </a:lnSpc>
              <a:buFont typeface="Wingdings" panose="05000000000000000000" charset="0"/>
              <a:buChar char="Ø"/>
            </a:pPr>
            <a:r>
              <a:rPr lang="en-US" sz="2800">
                <a:solidFill>
                  <a:srgbClr val="000000"/>
                </a:solidFill>
                <a:latin typeface="Calibri" panose="020F0502020204030204" charset="0"/>
                <a:cs typeface="Calibri" panose="020F0502020204030204" charset="0"/>
                <a:sym typeface="+mn-ea"/>
              </a:rPr>
              <a:t>Standardization</a:t>
            </a:r>
            <a:endParaRPr lang="en-US" sz="2800">
              <a:solidFill>
                <a:srgbClr val="000000"/>
              </a:solidFill>
              <a:latin typeface="Calibri" panose="020F0502020204030204" charset="0"/>
              <a:cs typeface="Calibri" panose="020F0502020204030204" charset="0"/>
            </a:endParaRPr>
          </a:p>
          <a:p>
            <a:pPr algn="just">
              <a:lnSpc>
                <a:spcPts val="4760"/>
              </a:lnSpc>
            </a:pPr>
            <a:endParaRPr lang="en-US" sz="1400">
              <a:solidFill>
                <a:srgbClr val="000000"/>
              </a:solidFill>
              <a:latin typeface="Calibri" panose="020F0502020204030204" charset="0"/>
              <a:cs typeface="Calibri" panose="020F0502020204030204" charset="0"/>
            </a:endParaRPr>
          </a:p>
          <a:p>
            <a:pPr algn="just">
              <a:lnSpc>
                <a:spcPts val="4760"/>
              </a:lnSpc>
            </a:pPr>
            <a:endParaRPr lang="en-US" sz="1400">
              <a:latin typeface="Calibri" panose="020F0502020204030204" charset="0"/>
              <a:cs typeface="Calibri" panose="020F0502020204030204" charset="0"/>
            </a:endParaRPr>
          </a:p>
        </p:txBody>
      </p:sp>
      <p:pic>
        <p:nvPicPr>
          <p:cNvPr id="106" name="Content Placeholder 105"/>
          <p:cNvPicPr/>
          <p:nvPr>
            <p:ph sz="half" idx="2"/>
          </p:nvPr>
        </p:nvPicPr>
        <p:blipFill>
          <a:blip r:embed="rId1"/>
          <a:stretch>
            <a:fillRect/>
          </a:stretch>
        </p:blipFill>
        <p:spPr>
          <a:xfrm>
            <a:off x="770890" y="2005330"/>
            <a:ext cx="4036695" cy="360426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000">
        <p:randomBar dir="vert"/>
      </p:transition>
    </mc:Choice>
    <mc:Fallback>
      <p:transition spd="slow">
        <p:randomBa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34920" y="139700"/>
            <a:ext cx="10972800" cy="582613"/>
          </a:xfrm>
        </p:spPr>
        <p:txBody>
          <a:bodyPr>
            <a:scene3d>
              <a:camera prst="orthographicFront"/>
              <a:lightRig rig="soft" dir="t">
                <a:rot lat="0" lon="0" rev="15600000"/>
              </a:lightRig>
            </a:scene3d>
            <a:sp3d extrusionH="57150" prstMaterial="softEdge">
              <a:bevelT w="25400" h="38100"/>
            </a:sp3d>
          </a:bodyPr>
          <a:p>
            <a:r>
              <a:rPr lang="en-US">
                <a:solidFill>
                  <a:schemeClr val="accent4"/>
                </a:solidFill>
                <a:effectLst/>
              </a:rPr>
              <a:t>System Architecture</a:t>
            </a:r>
            <a:endParaRPr lang="en-US">
              <a:solidFill>
                <a:schemeClr val="accent4"/>
              </a:solidFill>
              <a:effectLst/>
            </a:endParaRPr>
          </a:p>
        </p:txBody>
      </p:sp>
      <p:sp>
        <p:nvSpPr>
          <p:cNvPr id="12" name="Freeform 12"/>
          <p:cNvSpPr/>
          <p:nvPr/>
        </p:nvSpPr>
        <p:spPr>
          <a:xfrm>
            <a:off x="3347720" y="881380"/>
            <a:ext cx="5365115" cy="5915660"/>
          </a:xfrm>
          <a:custGeom>
            <a:avLst/>
            <a:gdLst/>
            <a:ahLst/>
            <a:cxnLst/>
            <a:rect l="l" t="t" r="r" b="b"/>
            <a:pathLst>
              <a:path w="8877923" h="10407979">
                <a:moveTo>
                  <a:pt x="0" y="0"/>
                </a:moveTo>
                <a:lnTo>
                  <a:pt x="8877923" y="0"/>
                </a:lnTo>
                <a:lnTo>
                  <a:pt x="8877923" y="10407979"/>
                </a:lnTo>
                <a:lnTo>
                  <a:pt x="0" y="10407979"/>
                </a:lnTo>
                <a:lnTo>
                  <a:pt x="0" y="0"/>
                </a:lnTo>
                <a:close/>
              </a:path>
            </a:pathLst>
          </a:custGeom>
          <a:blipFill>
            <a:blip r:embed="rId1"/>
            <a:stretch>
              <a:fillRect l="-127452" t="-37146" r="-71368" b="-6230"/>
            </a:stretch>
          </a:blipFill>
        </p:spPr>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half" idx="1"/>
          </p:nvPr>
        </p:nvSpPr>
        <p:spPr>
          <a:xfrm>
            <a:off x="1066165" y="1337310"/>
            <a:ext cx="9887585" cy="4638675"/>
          </a:xfrm>
        </p:spPr>
        <p:txBody>
          <a:bodyPr/>
          <a:p>
            <a:pPr>
              <a:lnSpc>
                <a:spcPts val="4760"/>
              </a:lnSpc>
              <a:buFont typeface="Wingdings" panose="05000000000000000000" charset="0"/>
              <a:buChar char="Ø"/>
            </a:pPr>
            <a:r>
              <a:rPr lang="en-US">
                <a:solidFill>
                  <a:srgbClr val="000000"/>
                </a:solidFill>
                <a:latin typeface="Calibri" panose="020F0502020204030204" charset="0"/>
                <a:cs typeface="Calibri" panose="020F0502020204030204" charset="0"/>
                <a:sym typeface="+mn-ea"/>
              </a:rPr>
              <a:t>The system architecture has following steps: </a:t>
            </a:r>
            <a:endParaRPr lang="en-US">
              <a:solidFill>
                <a:srgbClr val="000000"/>
              </a:solidFill>
              <a:latin typeface="Calibri" panose="020F0502020204030204" charset="0"/>
              <a:cs typeface="Calibri" panose="020F0502020204030204" charset="0"/>
              <a:sym typeface="+mn-ea"/>
            </a:endParaRPr>
          </a:p>
          <a:p>
            <a:pPr>
              <a:lnSpc>
                <a:spcPts val="4760"/>
              </a:lnSpc>
            </a:pPr>
            <a:r>
              <a:rPr lang="en-US" sz="2400">
                <a:solidFill>
                  <a:srgbClr val="000000"/>
                </a:solidFill>
                <a:latin typeface="Calibri" panose="020F0502020204030204" charset="0"/>
                <a:cs typeface="Calibri" panose="020F0502020204030204" charset="0"/>
                <a:sym typeface="+mn-ea"/>
              </a:rPr>
              <a:t>Import Required Images from the dataset helps us to </a:t>
            </a:r>
            <a:endParaRPr lang="en-US" sz="2400">
              <a:solidFill>
                <a:srgbClr val="000000"/>
              </a:solidFill>
              <a:latin typeface="Calibri" panose="020F0502020204030204" charset="0"/>
              <a:cs typeface="Calibri" panose="020F0502020204030204" charset="0"/>
            </a:endParaRPr>
          </a:p>
          <a:p>
            <a:pPr>
              <a:lnSpc>
                <a:spcPts val="4760"/>
              </a:lnSpc>
            </a:pPr>
            <a:r>
              <a:rPr lang="en-US" sz="2400">
                <a:solidFill>
                  <a:srgbClr val="000000"/>
                </a:solidFill>
                <a:latin typeface="Calibri" panose="020F0502020204030204" charset="0"/>
                <a:cs typeface="Calibri" panose="020F0502020204030204" charset="0"/>
                <a:sym typeface="+mn-ea"/>
              </a:rPr>
              <a:t>Secondly we have to Read the images from imported dataset </a:t>
            </a:r>
            <a:endParaRPr lang="en-US" sz="2400">
              <a:solidFill>
                <a:srgbClr val="000000"/>
              </a:solidFill>
              <a:latin typeface="Calibri" panose="020F0502020204030204" charset="0"/>
              <a:cs typeface="Calibri" panose="020F0502020204030204" charset="0"/>
            </a:endParaRPr>
          </a:p>
          <a:p>
            <a:pPr>
              <a:lnSpc>
                <a:spcPts val="4760"/>
              </a:lnSpc>
            </a:pPr>
            <a:r>
              <a:rPr lang="en-US" sz="2400">
                <a:solidFill>
                  <a:srgbClr val="000000"/>
                </a:solidFill>
                <a:latin typeface="Calibri" panose="020F0502020204030204" charset="0"/>
                <a:cs typeface="Calibri" panose="020F0502020204030204" charset="0"/>
                <a:sym typeface="+mn-ea"/>
              </a:rPr>
              <a:t>Exploratory Data Analysis . </a:t>
            </a:r>
            <a:endParaRPr lang="en-US" sz="2400">
              <a:solidFill>
                <a:srgbClr val="000000"/>
              </a:solidFill>
              <a:latin typeface="Calibri" panose="020F0502020204030204" charset="0"/>
              <a:cs typeface="Calibri" panose="020F0502020204030204" charset="0"/>
            </a:endParaRPr>
          </a:p>
          <a:p>
            <a:pPr>
              <a:lnSpc>
                <a:spcPts val="4760"/>
              </a:lnSpc>
            </a:pPr>
            <a:r>
              <a:rPr lang="en-US" sz="2400">
                <a:solidFill>
                  <a:srgbClr val="000000"/>
                </a:solidFill>
                <a:latin typeface="Calibri" panose="020F0502020204030204" charset="0"/>
                <a:cs typeface="Calibri" panose="020F0502020204030204" charset="0"/>
                <a:sym typeface="+mn-ea"/>
              </a:rPr>
              <a:t>Calculating the joint angle using the datapoints assigned on the hand . </a:t>
            </a:r>
            <a:endParaRPr lang="en-US" sz="2400">
              <a:solidFill>
                <a:srgbClr val="000000"/>
              </a:solidFill>
              <a:latin typeface="Calibri" panose="020F0502020204030204" charset="0"/>
              <a:cs typeface="Calibri" panose="020F0502020204030204" charset="0"/>
            </a:endParaRPr>
          </a:p>
          <a:p>
            <a:pPr>
              <a:lnSpc>
                <a:spcPts val="4760"/>
              </a:lnSpc>
            </a:pPr>
            <a:r>
              <a:rPr lang="en-US" sz="2400">
                <a:solidFill>
                  <a:srgbClr val="000000"/>
                </a:solidFill>
                <a:latin typeface="Calibri" panose="020F0502020204030204" charset="0"/>
                <a:cs typeface="Calibri" panose="020F0502020204030204" charset="0"/>
                <a:sym typeface="+mn-ea"/>
              </a:rPr>
              <a:t>If the angle calculated is less than threshold angle then the person is suffered form the RA else he is not.</a:t>
            </a:r>
            <a:endParaRPr lang="en-US">
              <a:latin typeface="Calibri" panose="020F0502020204030204" charset="0"/>
              <a:cs typeface="Calibri" panose="020F0502020204030204" charset="0"/>
            </a:endParaRPr>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Functional Requirements</a:t>
            </a:r>
            <a:endParaRPr lang="en-US"/>
          </a:p>
        </p:txBody>
      </p:sp>
      <p:sp>
        <p:nvSpPr>
          <p:cNvPr id="3" name="Content Placeholder 2"/>
          <p:cNvSpPr>
            <a:spLocks noGrp="1"/>
          </p:cNvSpPr>
          <p:nvPr>
            <p:ph sz="half" idx="1"/>
          </p:nvPr>
        </p:nvSpPr>
        <p:spPr>
          <a:xfrm>
            <a:off x="6442710" y="773430"/>
            <a:ext cx="5384800" cy="4953000"/>
          </a:xfrm>
        </p:spPr>
        <p:txBody>
          <a:bodyPr/>
          <a:p>
            <a:pPr>
              <a:lnSpc>
                <a:spcPts val="4760"/>
              </a:lnSpc>
            </a:pPr>
            <a:r>
              <a:rPr lang="en-US" sz="2400">
                <a:solidFill>
                  <a:srgbClr val="000000"/>
                </a:solidFill>
                <a:latin typeface="Canva Sans" panose="020B0503030501040103"/>
                <a:sym typeface="+mn-ea"/>
              </a:rPr>
              <a:t>Image acquisition</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Image preprocessing</a:t>
            </a:r>
            <a:endParaRPr lang="en-US" sz="2400">
              <a:solidFill>
                <a:srgbClr val="000000"/>
              </a:solidFill>
              <a:latin typeface="Canva Sans" panose="020B0503030501040103"/>
              <a:sym typeface="+mn-ea"/>
            </a:endParaRPr>
          </a:p>
          <a:p>
            <a:pPr>
              <a:lnSpc>
                <a:spcPts val="4760"/>
              </a:lnSpc>
            </a:pPr>
            <a:r>
              <a:rPr lang="en-US" sz="2400">
                <a:solidFill>
                  <a:srgbClr val="000000"/>
                </a:solidFill>
                <a:latin typeface="Canva Sans" panose="020B0503030501040103"/>
                <a:sym typeface="+mn-ea"/>
              </a:rPr>
              <a:t>Joint detection</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Joint segmentation</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Feature extraction</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RA detection</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User interface</a:t>
            </a:r>
            <a:endParaRPr lang="en-US" sz="2400">
              <a:solidFill>
                <a:srgbClr val="000000"/>
              </a:solidFill>
              <a:latin typeface="Canva Sans" panose="020B0503030501040103"/>
            </a:endParaRPr>
          </a:p>
          <a:p>
            <a:pPr>
              <a:lnSpc>
                <a:spcPts val="4760"/>
              </a:lnSpc>
            </a:pPr>
            <a:r>
              <a:rPr lang="en-US" sz="2400">
                <a:solidFill>
                  <a:srgbClr val="000000"/>
                </a:solidFill>
                <a:latin typeface="Canva Sans" panose="020B0503030501040103"/>
                <a:sym typeface="+mn-ea"/>
              </a:rPr>
              <a:t>Performance evaluation</a:t>
            </a:r>
            <a:endParaRPr lang="en-US" sz="2400">
              <a:latin typeface="Calibri" panose="020F0502020204030204" charset="0"/>
              <a:cs typeface="Calibri" panose="020F0502020204030204" charset="0"/>
            </a:endParaRPr>
          </a:p>
        </p:txBody>
      </p:sp>
      <p:pic>
        <p:nvPicPr>
          <p:cNvPr id="109" name="Picture 108"/>
          <p:cNvPicPr/>
          <p:nvPr/>
        </p:nvPicPr>
        <p:blipFill>
          <a:blip r:embed="rId1"/>
          <a:stretch>
            <a:fillRect/>
          </a:stretch>
        </p:blipFill>
        <p:spPr>
          <a:xfrm>
            <a:off x="904240" y="1022985"/>
            <a:ext cx="4448810" cy="3028315"/>
          </a:xfrm>
          <a:prstGeom prst="rect">
            <a:avLst/>
          </a:prstGeom>
          <a:noFill/>
          <a:ln w="9525">
            <a:noFill/>
          </a:ln>
        </p:spPr>
      </p:pic>
      <p:sp>
        <p:nvSpPr>
          <p:cNvPr id="5" name="Text Box 4"/>
          <p:cNvSpPr txBox="1"/>
          <p:nvPr/>
        </p:nvSpPr>
        <p:spPr>
          <a:xfrm>
            <a:off x="819150" y="4121785"/>
            <a:ext cx="4181475" cy="2533015"/>
          </a:xfrm>
          <a:prstGeom prst="rect">
            <a:avLst/>
          </a:prstGeom>
          <a:noFill/>
        </p:spPr>
        <p:txBody>
          <a:bodyPr wrap="square" rtlCol="0" anchor="t">
            <a:spAutoFit/>
          </a:bodyPr>
          <a:p>
            <a:pPr marL="342900" indent="-342900">
              <a:lnSpc>
                <a:spcPts val="4760"/>
              </a:lnSpc>
              <a:buFont typeface="Arial" panose="020B0604020202020204" pitchFamily="34" charset="0"/>
              <a:buChar char="•"/>
            </a:pPr>
            <a:r>
              <a:rPr lang="en-US" sz="2800">
                <a:solidFill>
                  <a:srgbClr val="000000"/>
                </a:solidFill>
                <a:latin typeface="Calibri" panose="020F0502020204030204" charset="0"/>
                <a:cs typeface="Calibri" panose="020F0502020204030204" charset="0"/>
                <a:sym typeface="+mn-ea"/>
              </a:rPr>
              <a:t>Feature extraction</a:t>
            </a:r>
            <a:endParaRPr lang="en-US" sz="2800">
              <a:solidFill>
                <a:srgbClr val="000000"/>
              </a:solidFill>
              <a:latin typeface="Calibri" panose="020F0502020204030204" charset="0"/>
              <a:cs typeface="Calibri" panose="020F0502020204030204" charset="0"/>
            </a:endParaRPr>
          </a:p>
          <a:p>
            <a:pPr marL="342900" indent="-342900">
              <a:lnSpc>
                <a:spcPts val="4760"/>
              </a:lnSpc>
              <a:buFont typeface="Arial" panose="020B0604020202020204" pitchFamily="34" charset="0"/>
              <a:buChar char="•"/>
            </a:pPr>
            <a:r>
              <a:rPr lang="en-US" sz="2800">
                <a:solidFill>
                  <a:srgbClr val="000000"/>
                </a:solidFill>
                <a:latin typeface="Calibri" panose="020F0502020204030204" charset="0"/>
                <a:cs typeface="Calibri" panose="020F0502020204030204" charset="0"/>
                <a:sym typeface="+mn-ea"/>
              </a:rPr>
              <a:t>RA detection</a:t>
            </a:r>
            <a:endParaRPr lang="en-US" sz="2800">
              <a:solidFill>
                <a:srgbClr val="000000"/>
              </a:solidFill>
              <a:latin typeface="Calibri" panose="020F0502020204030204" charset="0"/>
              <a:cs typeface="Calibri" panose="020F0502020204030204" charset="0"/>
            </a:endParaRPr>
          </a:p>
          <a:p>
            <a:pPr marL="342900" indent="-342900">
              <a:lnSpc>
                <a:spcPts val="4760"/>
              </a:lnSpc>
              <a:buFont typeface="Arial" panose="020B0604020202020204" pitchFamily="34" charset="0"/>
              <a:buChar char="•"/>
            </a:pPr>
            <a:r>
              <a:rPr lang="en-US" sz="2800">
                <a:solidFill>
                  <a:srgbClr val="000000"/>
                </a:solidFill>
                <a:latin typeface="Calibri" panose="020F0502020204030204" charset="0"/>
                <a:cs typeface="Calibri" panose="020F0502020204030204" charset="0"/>
                <a:sym typeface="+mn-ea"/>
              </a:rPr>
              <a:t>User interface</a:t>
            </a:r>
            <a:endParaRPr lang="en-US" sz="2800">
              <a:solidFill>
                <a:srgbClr val="000000"/>
              </a:solidFill>
              <a:latin typeface="Calibri" panose="020F0502020204030204" charset="0"/>
              <a:cs typeface="Calibri" panose="020F0502020204030204" charset="0"/>
            </a:endParaRPr>
          </a:p>
          <a:p>
            <a:pPr marL="342900" indent="-342900">
              <a:lnSpc>
                <a:spcPts val="4760"/>
              </a:lnSpc>
              <a:buFont typeface="Arial" panose="020B0604020202020204" pitchFamily="34" charset="0"/>
              <a:buChar char="•"/>
            </a:pPr>
            <a:r>
              <a:rPr lang="en-US" sz="2800">
                <a:solidFill>
                  <a:srgbClr val="000000"/>
                </a:solidFill>
                <a:latin typeface="Calibri" panose="020F0502020204030204" charset="0"/>
                <a:cs typeface="Calibri" panose="020F0502020204030204" charset="0"/>
                <a:sym typeface="+mn-ea"/>
              </a:rPr>
              <a:t>Performance evaluation</a:t>
            </a:r>
            <a:endParaRPr lang="en-US" sz="2800">
              <a:latin typeface="Calibri" panose="020F0502020204030204" charset="0"/>
              <a:cs typeface="Calibri" panose="020F0502020204030204" charset="0"/>
            </a:endParaRPr>
          </a:p>
        </p:txBody>
      </p:sp>
      <p:pic>
        <p:nvPicPr>
          <p:cNvPr id="110" name="Content Placeholder 109"/>
          <p:cNvPicPr/>
          <p:nvPr>
            <p:ph sz="half" idx="2"/>
          </p:nvPr>
        </p:nvPicPr>
        <p:blipFill>
          <a:blip r:embed="rId2"/>
          <a:stretch>
            <a:fillRect/>
          </a:stretch>
        </p:blipFill>
        <p:spPr>
          <a:xfrm>
            <a:off x="6511290" y="3672205"/>
            <a:ext cx="5071110" cy="290385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000">
        <p:push dir="u"/>
      </p:transition>
    </mc:Choice>
    <mc:Fallback>
      <p:transition spd="slow">
        <p:push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09690" y="190500"/>
            <a:ext cx="10972800" cy="582613"/>
          </a:xfrm>
        </p:spPr>
        <p:txBody>
          <a:bodyPr>
            <a:scene3d>
              <a:camera prst="orthographicFront"/>
              <a:lightRig rig="soft" dir="t">
                <a:rot lat="0" lon="0" rev="15600000"/>
              </a:lightRig>
            </a:scene3d>
            <a:sp3d extrusionH="57150" prstMaterial="softEdge">
              <a:bevelT w="25400" h="38100"/>
            </a:sp3d>
          </a:bodyPr>
          <a:p>
            <a:r>
              <a:rPr lang="en-US">
                <a:solidFill>
                  <a:schemeClr val="accent4"/>
                </a:solidFill>
                <a:effectLst/>
              </a:rPr>
              <a:t>Conclusion:</a:t>
            </a:r>
            <a:endParaRPr lang="en-US">
              <a:solidFill>
                <a:schemeClr val="accent4"/>
              </a:solidFill>
              <a:effectLst/>
            </a:endParaRPr>
          </a:p>
        </p:txBody>
      </p:sp>
      <p:sp>
        <p:nvSpPr>
          <p:cNvPr id="5" name="Text Box 4"/>
          <p:cNvSpPr txBox="1"/>
          <p:nvPr/>
        </p:nvSpPr>
        <p:spPr>
          <a:xfrm>
            <a:off x="283845" y="1680210"/>
            <a:ext cx="7761605" cy="3949700"/>
          </a:xfrm>
          <a:prstGeom prst="rect">
            <a:avLst/>
          </a:prstGeom>
          <a:noFill/>
        </p:spPr>
        <p:txBody>
          <a:bodyPr wrap="square" rtlCol="0" anchor="t">
            <a:spAutoFit/>
          </a:bodyPr>
          <a:p>
            <a:pPr indent="0" algn="just">
              <a:lnSpc>
                <a:spcPts val="5015"/>
              </a:lnSpc>
              <a:buFont typeface="Arial" panose="020B0604020202020204" pitchFamily="34" charset="0"/>
              <a:buNone/>
            </a:pPr>
            <a:r>
              <a:rPr lang="en-US" sz="2400">
                <a:solidFill>
                  <a:srgbClr val="000000"/>
                </a:solidFill>
                <a:latin typeface="Calibri" panose="020F0502020204030204" charset="0"/>
                <a:cs typeface="Calibri" panose="020F0502020204030204" charset="0"/>
                <a:sym typeface="+mn-ea"/>
              </a:rPr>
              <a:t>In conclusion,By utilizing image processing, joint detection, segmentation, and feature extraction, accurate and efficient RA detection can be achieved,with the help of algorithms, user-friendly interfaces, and performance evaluation, this approach offers improved early diagnosis and treatment, ultimately enhancing patient outcomes.</a:t>
            </a:r>
            <a:endParaRPr lang="en-US" sz="2400">
              <a:latin typeface="Calibri" panose="020F0502020204030204" charset="0"/>
              <a:cs typeface="Calibri" panose="020F0502020204030204" charset="0"/>
            </a:endParaRPr>
          </a:p>
        </p:txBody>
      </p:sp>
      <p:pic>
        <p:nvPicPr>
          <p:cNvPr id="113" name="Content Placeholder 112"/>
          <p:cNvPicPr/>
          <p:nvPr>
            <p:ph idx="1"/>
          </p:nvPr>
        </p:nvPicPr>
        <p:blipFill>
          <a:blip r:embed="rId1"/>
          <a:srcRect l="10472" r="11462"/>
          <a:stretch>
            <a:fillRect/>
          </a:stretch>
        </p:blipFill>
        <p:spPr>
          <a:xfrm>
            <a:off x="8187055" y="1936115"/>
            <a:ext cx="4004945" cy="38373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endParaRPr lang="en-US"/>
          </a:p>
        </p:txBody>
      </p:sp>
      <p:pic>
        <p:nvPicPr>
          <p:cNvPr id="114" name="Content Placeholder 113"/>
          <p:cNvPicPr/>
          <p:nvPr>
            <p:ph idx="1"/>
          </p:nvPr>
        </p:nvPicPr>
        <p:blipFill>
          <a:blip r:embed="rId1"/>
          <a:srcRect b="9205"/>
          <a:stretch>
            <a:fillRect/>
          </a:stretch>
        </p:blipFill>
        <p:spPr>
          <a:xfrm>
            <a:off x="-635" y="0"/>
            <a:ext cx="12192635" cy="6858000"/>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3706</Words>
  <Application>WPS Presentation</Application>
  <PresentationFormat>Widescreen</PresentationFormat>
  <Paragraphs>112</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Calibri</vt:lpstr>
      <vt:lpstr>Georgia</vt:lpstr>
      <vt:lpstr>Arial</vt:lpstr>
      <vt:lpstr>Lato</vt:lpstr>
      <vt:lpstr>Wingdings</vt:lpstr>
      <vt:lpstr>Canva Sans</vt:lpstr>
      <vt:lpstr>Yu Gothic UI</vt:lpstr>
      <vt:lpstr>Microsoft YaHei</vt:lpstr>
      <vt:lpstr>Arial Unicode MS</vt:lpstr>
      <vt:lpstr>Communications and Dialogues</vt:lpstr>
      <vt:lpstr>Rheumatoid Arthritis Detection</vt:lpstr>
      <vt:lpstr>Contents:</vt:lpstr>
      <vt:lpstr>Abstract</vt:lpstr>
      <vt:lpstr>Introduction:</vt:lpstr>
      <vt:lpstr>Existing System:</vt:lpstr>
      <vt:lpstr>Disadvantages of Existing System:</vt:lpstr>
      <vt:lpstr>Proposed System</vt:lpstr>
      <vt:lpstr>PowerPoint 演示文稿</vt:lpstr>
      <vt:lpstr>Advantages in Proposed System:</vt:lpstr>
      <vt:lpstr>System Architecture</vt:lpstr>
      <vt:lpstr>PowerPoint 演示文稿</vt:lpstr>
      <vt:lpstr>Functional Requirements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Rheumatoid Arthritis Detection</dc:title>
  <dc:creator/>
  <cp:lastModifiedBy>Administrator</cp:lastModifiedBy>
  <cp:revision>3</cp:revision>
  <dcterms:created xsi:type="dcterms:W3CDTF">2023-08-27T20:52:00Z</dcterms:created>
  <dcterms:modified xsi:type="dcterms:W3CDTF">2023-08-30T05:55:02Z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E1C54C9AE28544DE9BC0BD0D9E269B0A</vt:lpwstr>
  </property>
  <property fmtid="{D5CDD505-2E9C-101B-9397-08002B2CF9AE}" pid="3" name="KSOProductBuildVer">
    <vt:lpwstr>1033-11.2.0.11537</vt:lpwstr>
  </property>
</Properties>
</file>